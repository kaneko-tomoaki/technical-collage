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4" r:id="rId8"/>
    <p:sldId id="265" r:id="rId9"/>
    <p:sldId id="263" r:id="rId10"/>
    <p:sldId id="266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淡色スタイル 2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9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B514FF-5858-C628-FBF2-C79C7B86D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393B56A-562A-0EE3-E75A-A8B795397D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1C22FC-605D-4190-BC51-EE61B34F8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A840B-D649-488B-8EAB-D071B3003417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8EF9F9-FCD7-FC21-5672-407124A0F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24EAC0-DD9F-B025-CFC4-1997829E9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1460-B149-4E79-BD3E-BA2230E3E5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0942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49DDEB-9A6A-8344-D01F-BC0852BB3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AE145EC-213D-AAEB-079E-C3FE61133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DA1C13-0661-B9ED-7617-67188E781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A840B-D649-488B-8EAB-D071B3003417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AFBB8B-B62E-C661-3377-37702DB38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B6093B-DF83-F237-E044-B8355FCF2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1460-B149-4E79-BD3E-BA2230E3E5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9644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0F21A4-55AD-E69F-E71F-97BDA4594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6926CA-985F-F36C-C555-70E30CCC2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F43672-20D1-DDA2-A090-7DFFCFC16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A840B-D649-488B-8EAB-D071B3003417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17FD37-80D5-039F-AB3D-C504E14CB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7FB7D9-1304-AF61-4FA4-1B7D9032D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1460-B149-4E79-BD3E-BA2230E3E5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1650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98EB42-83C3-C7E8-D5C4-353254C4C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DD0D59-E897-705B-8595-F5B2779BA7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487CF83-8CD3-C8D0-F8C0-3CCC5890E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38C8BE9-D7C0-91E6-F697-44AD85E0A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A840B-D649-488B-8EAB-D071B3003417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85E9B7A-1C01-5F4D-26BB-18B010F9F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CE4A75E-4D30-2BAB-2C84-FF5FAFEDA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1460-B149-4E79-BD3E-BA2230E3E5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1211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AE5378-98CF-1A82-DB23-67E77CAA5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4BBF34-776A-C422-F4A9-0F9EFE5AC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40EA3A8-DB3C-A212-5CC3-5A7F3B3014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12A7554-3B43-6103-1E4E-9A1B2BA5D3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0D2928A-BE24-CBBF-3770-69448A56C2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3E83770-0BCE-D3EA-9DD4-07B6BEF5E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A840B-D649-488B-8EAB-D071B3003417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4A4C137-8117-AF7A-1101-055E927D1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76143AB-4933-F8D6-01D6-3FE78B274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1460-B149-4E79-BD3E-BA2230E3E5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2527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E8FB11-7A37-9D86-6750-85C64652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E73AD01-AD6D-1D03-0EA6-7AE728B9C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A840B-D649-488B-8EAB-D071B3003417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35ADA38-8F2B-FB53-3B96-9DE19638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EA25A79-6275-042D-7998-012009EF4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1460-B149-4E79-BD3E-BA2230E3E5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5409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B79F301-3B4F-4394-19D1-5BF8F2C9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A840B-D649-488B-8EAB-D071B3003417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F4D3913-7199-8F9E-03CE-5E7DB4020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368DF3E-BF6F-2FD3-4D1F-FA2BCBB41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1460-B149-4E79-BD3E-BA2230E3E5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3879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3BD48A-A0F4-E25F-FF92-C1A79C9C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CCD2A1-F37C-B300-56B3-5ED4AC0C6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D996A7B-28EB-492F-A870-BFC4797711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9012740-1671-413D-C5AF-1A7174ABE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A840B-D649-488B-8EAB-D071B3003417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F052F1C-018A-351A-D47D-CF3F1EA4E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C4A8665-78FB-2A8A-5031-F35E99AF3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1460-B149-4E79-BD3E-BA2230E3E5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5558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34B5E6-67D0-3B4A-385E-905F8FEA4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A6B0AA8-388E-961B-3D95-040D38E109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8AB6D4E-E72B-E5F9-D10F-8192C8C47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32666B5-B8D0-F6C5-C664-FDEF95F19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A840B-D649-488B-8EAB-D071B3003417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9EBC379-3133-62C3-3971-B9A956547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D937ED3-BFA9-0F77-E791-9D69C796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1460-B149-4E79-BD3E-BA2230E3E5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3174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5C8FE7-7995-E44D-BB2D-2678D9A6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C72C967-30CB-5628-DAC8-4E92D06078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2C38E8-1426-7A81-A21D-F8C93CA9E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A840B-D649-488B-8EAB-D071B3003417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464122-9DE6-7424-C594-FA5621AB2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C3497D-8D32-FE56-51AA-AB3301808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1460-B149-4E79-BD3E-BA2230E3E5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480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63600AF-01FD-A045-0DB4-6D2FED4429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81DE2F0-2698-E6FA-A960-E1282962BC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4400CB-6B39-44A6-1982-4AC43C31E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A840B-D649-488B-8EAB-D071B3003417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7E1E72-8088-BF81-3A3A-341D934E7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42E398-40B0-9D55-9C61-B0D1A0882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1460-B149-4E79-BD3E-BA2230E3E5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873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E8BF1CA-53DD-036B-8BD2-12C2A08FD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FFDC8B-A9B1-FA83-FFCD-D3FE03FD3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5E84E6-AB46-A7DE-559C-8AEDD16BA5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AA840B-D649-488B-8EAB-D071B3003417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23548D-70B3-8E94-1E77-3680DE62E4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CC2D93-B8C3-888B-E7D1-4D6DBC3887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661460-B149-4E79-BD3E-BA2230E3E5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2210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75F31E8C-17FE-BFDA-078C-92DFE8347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3045" y="0"/>
            <a:ext cx="10685909" cy="685800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F11D84B-A3C0-7695-9049-156CF775D4E2}"/>
              </a:ext>
            </a:extLst>
          </p:cNvPr>
          <p:cNvSpPr/>
          <p:nvPr/>
        </p:nvSpPr>
        <p:spPr>
          <a:xfrm>
            <a:off x="1429407" y="3429000"/>
            <a:ext cx="6768662" cy="869731"/>
          </a:xfrm>
          <a:prstGeom prst="rect">
            <a:avLst/>
          </a:prstGeom>
          <a:solidFill>
            <a:schemeClr val="accent4">
              <a:lumMod val="20000"/>
              <a:lumOff val="8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A31B409-1327-09FA-E9C4-F5FE6B802E89}"/>
              </a:ext>
            </a:extLst>
          </p:cNvPr>
          <p:cNvSpPr/>
          <p:nvPr/>
        </p:nvSpPr>
        <p:spPr>
          <a:xfrm>
            <a:off x="1429407" y="4816365"/>
            <a:ext cx="6768662" cy="1332187"/>
          </a:xfrm>
          <a:prstGeom prst="rect">
            <a:avLst/>
          </a:prstGeom>
          <a:solidFill>
            <a:schemeClr val="accent4">
              <a:lumMod val="20000"/>
              <a:lumOff val="8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1909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098ADFB-39C1-5BBB-A0F3-0B08EA94A7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2302" y="0"/>
            <a:ext cx="108673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880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9F6DA9-0F5B-3EFE-3110-4A9321A8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Emmet</a:t>
            </a:r>
            <a:r>
              <a:rPr kumimoji="1" lang="ja-JP" altLang="en-US" dirty="0"/>
              <a:t>記法とカッコ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C7094E2-7982-031B-D498-2686C7344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5027869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kumimoji="1" lang="ja-JP" altLang="en-US" sz="4000" dirty="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｛</a:t>
            </a:r>
            <a:r>
              <a:rPr kumimoji="1" lang="ja-JP" altLang="en-US" sz="40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　テキスト　</a:t>
            </a:r>
            <a:r>
              <a:rPr kumimoji="1" lang="ja-JP" altLang="en-US" sz="4000" dirty="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｝</a:t>
            </a:r>
            <a:endParaRPr kumimoji="1" lang="en-US" altLang="ja-JP" sz="4000" dirty="0">
              <a:solidFill>
                <a:srgbClr val="FF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pPr>
              <a:lnSpc>
                <a:spcPct val="200000"/>
              </a:lnSpc>
            </a:pPr>
            <a:r>
              <a:rPr kumimoji="1" lang="ja-JP" altLang="en-US" sz="4000" dirty="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（</a:t>
            </a:r>
            <a:r>
              <a:rPr kumimoji="1" lang="ja-JP" altLang="en-US" sz="40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グループ化</a:t>
            </a:r>
            <a:r>
              <a:rPr kumimoji="1" lang="ja-JP" altLang="en-US" sz="4000" dirty="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）</a:t>
            </a:r>
            <a:r>
              <a:rPr kumimoji="1" lang="ja-JP" altLang="en-US" sz="40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   </a:t>
            </a:r>
            <a:r>
              <a:rPr kumimoji="1" lang="en-US" altLang="ja-JP" sz="4000" dirty="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(</a:t>
            </a:r>
            <a:r>
              <a:rPr kumimoji="1" lang="en-US" altLang="ja-JP" sz="40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 li&gt;</a:t>
            </a:r>
            <a:r>
              <a:rPr kumimoji="1" lang="en-US" altLang="ja-JP" sz="4000" dirty="0" err="1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img.image</a:t>
            </a:r>
            <a:r>
              <a:rPr kumimoji="1" lang="en-US" altLang="ja-JP" sz="40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$@1</a:t>
            </a:r>
            <a:r>
              <a:rPr lang="ja-JP" altLang="en-US" sz="40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・・・</a:t>
            </a:r>
            <a:r>
              <a:rPr kumimoji="1" lang="en-US" altLang="ja-JP" sz="4000" dirty="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)</a:t>
            </a:r>
            <a:r>
              <a:rPr kumimoji="1" lang="en-US" altLang="ja-JP" sz="40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*3</a:t>
            </a:r>
          </a:p>
          <a:p>
            <a:pPr>
              <a:lnSpc>
                <a:spcPct val="200000"/>
              </a:lnSpc>
            </a:pPr>
            <a:r>
              <a:rPr kumimoji="1" lang="en-US" altLang="ja-JP" sz="4000" dirty="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[</a:t>
            </a:r>
            <a:r>
              <a:rPr lang="ja-JP" altLang="en-US" sz="40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 </a:t>
            </a:r>
            <a:r>
              <a:rPr kumimoji="1" lang="ja-JP" altLang="en-US" sz="40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属性 </a:t>
            </a:r>
            <a:r>
              <a:rPr kumimoji="1" lang="en-US" altLang="ja-JP" sz="4000" dirty="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]</a:t>
            </a:r>
            <a:r>
              <a:rPr kumimoji="1" lang="en-US" altLang="ja-JP" sz="40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        </a:t>
            </a:r>
            <a:r>
              <a:rPr kumimoji="1" lang="en-US" altLang="ja-JP" sz="4000" dirty="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[</a:t>
            </a:r>
            <a:r>
              <a:rPr kumimoji="1" lang="en-US" altLang="ja-JP" sz="4000" dirty="0" err="1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src</a:t>
            </a:r>
            <a:r>
              <a:rPr kumimoji="1" lang="ja-JP" altLang="en-US" sz="40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＝</a:t>
            </a:r>
            <a:r>
              <a:rPr kumimoji="1" lang="en-US" altLang="ja-JP" sz="40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images/slide$.jpg</a:t>
            </a:r>
            <a:r>
              <a:rPr kumimoji="1" lang="en-US" altLang="ja-JP" sz="4000" dirty="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]</a:t>
            </a:r>
            <a:endParaRPr kumimoji="1" lang="ja-JP" altLang="en-US" sz="4000" dirty="0">
              <a:solidFill>
                <a:srgbClr val="FF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8904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4F9FD3-3956-3C7C-57C8-55CEAA3C6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Grid</a:t>
            </a:r>
            <a:r>
              <a:rPr kumimoji="1" lang="ja-JP" altLang="en-US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、</a:t>
            </a:r>
            <a:r>
              <a:rPr kumimoji="1" lang="en-US" altLang="ja-JP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Flexbox</a:t>
            </a:r>
            <a:r>
              <a:rPr kumimoji="1" lang="ja-JP" altLang="en-US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、</a:t>
            </a:r>
            <a:r>
              <a:rPr kumimoji="1" lang="en-US" altLang="ja-JP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float</a:t>
            </a:r>
            <a:r>
              <a:rPr kumimoji="1" lang="ja-JP" altLang="en-US" dirty="0"/>
              <a:t>、</a:t>
            </a:r>
            <a:br>
              <a:rPr kumimoji="1" lang="en-US" altLang="ja-JP" dirty="0"/>
            </a:br>
            <a:r>
              <a:rPr kumimoji="1" lang="ja-JP" altLang="en-US" dirty="0"/>
              <a:t>各レイアウトの使い分け</a:t>
            </a:r>
          </a:p>
        </p:txBody>
      </p:sp>
      <p:graphicFrame>
        <p:nvGraphicFramePr>
          <p:cNvPr id="5" name="コンテンツ プレースホルダー 4">
            <a:extLst>
              <a:ext uri="{FF2B5EF4-FFF2-40B4-BE49-F238E27FC236}">
                <a16:creationId xmlns:a16="http://schemas.microsoft.com/office/drawing/2014/main" id="{73008C89-2A72-D710-1E15-6B4B7C6F42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0143504"/>
              </p:ext>
            </p:extLst>
          </p:nvPr>
        </p:nvGraphicFramePr>
        <p:xfrm>
          <a:off x="376083" y="1914115"/>
          <a:ext cx="11393130" cy="37800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140975">
                  <a:extLst>
                    <a:ext uri="{9D8B030D-6E8A-4147-A177-3AD203B41FA5}">
                      <a16:colId xmlns:a16="http://schemas.microsoft.com/office/drawing/2014/main" val="3103516620"/>
                    </a:ext>
                  </a:extLst>
                </a:gridCol>
                <a:gridCol w="2399071">
                  <a:extLst>
                    <a:ext uri="{9D8B030D-6E8A-4147-A177-3AD203B41FA5}">
                      <a16:colId xmlns:a16="http://schemas.microsoft.com/office/drawing/2014/main" val="2584904351"/>
                    </a:ext>
                  </a:extLst>
                </a:gridCol>
                <a:gridCol w="6853084">
                  <a:extLst>
                    <a:ext uri="{9D8B030D-6E8A-4147-A177-3AD203B41FA5}">
                      <a16:colId xmlns:a16="http://schemas.microsoft.com/office/drawing/2014/main" val="3909378731"/>
                    </a:ext>
                  </a:extLst>
                </a:gridCol>
              </a:tblGrid>
              <a:tr h="611838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2209101"/>
                  </a:ext>
                </a:extLst>
              </a:tr>
              <a:tr h="1056054">
                <a:tc>
                  <a:txBody>
                    <a:bodyPr/>
                    <a:lstStyle/>
                    <a:p>
                      <a:r>
                        <a:rPr kumimoji="1" lang="en-US" altLang="ja-JP" sz="3600" dirty="0">
                          <a:latin typeface="Noto Sans JP Black" panose="020B0200000000000000" pitchFamily="50" charset="-128"/>
                          <a:ea typeface="Noto Sans JP Black" panose="020B0200000000000000" pitchFamily="50" charset="-128"/>
                          <a:cs typeface="Cascadia Code SemiBold" panose="020B0609020000020004" pitchFamily="49" charset="0"/>
                        </a:rPr>
                        <a:t>Grid</a:t>
                      </a:r>
                      <a:endParaRPr kumimoji="1" lang="ja-JP" altLang="en-US" sz="3600" dirty="0">
                        <a:latin typeface="Noto Sans JP Black" panose="020B0200000000000000" pitchFamily="50" charset="-128"/>
                        <a:ea typeface="Noto Sans JP Black" panose="020B0200000000000000" pitchFamily="50" charset="-128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二次元レイアウト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行</a:t>
                      </a:r>
                      <a:r>
                        <a:rPr kumimoji="1" lang="en-US" altLang="ja-JP" dirty="0"/>
                        <a:t>x</a:t>
                      </a:r>
                      <a:r>
                        <a:rPr kumimoji="1" lang="ja-JP" altLang="en-US" dirty="0"/>
                        <a:t>列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つまり、面（</a:t>
                      </a:r>
                      <a:r>
                        <a:rPr kumimoji="1" lang="en-US" altLang="ja-JP" dirty="0"/>
                        <a:t>2</a:t>
                      </a:r>
                      <a:r>
                        <a:rPr kumimoji="1" lang="ja-JP" altLang="en-US" dirty="0"/>
                        <a:t>軸）を揃える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8125637"/>
                  </a:ext>
                </a:extLst>
              </a:tr>
              <a:tr h="1056054">
                <a:tc>
                  <a:txBody>
                    <a:bodyPr/>
                    <a:lstStyle/>
                    <a:p>
                      <a:r>
                        <a:rPr kumimoji="1" lang="en-US" altLang="ja-JP" sz="3600" dirty="0">
                          <a:latin typeface="Noto Sans JP Black" panose="020B0200000000000000" pitchFamily="50" charset="-128"/>
                          <a:ea typeface="Noto Sans JP Black" panose="020B0200000000000000" pitchFamily="50" charset="-128"/>
                          <a:cs typeface="Cascadia Code SemiBold" panose="020B0609020000020004" pitchFamily="49" charset="0"/>
                        </a:rPr>
                        <a:t>Flexbox</a:t>
                      </a:r>
                      <a:endParaRPr kumimoji="1" lang="ja-JP" altLang="en-US" sz="3600" dirty="0">
                        <a:latin typeface="Noto Sans JP Black" panose="020B0200000000000000" pitchFamily="50" charset="-128"/>
                        <a:ea typeface="Noto Sans JP Black" panose="020B0200000000000000" pitchFamily="50" charset="-128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u="none" dirty="0"/>
                        <a:t>一次元レイアウト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横一列（</a:t>
                      </a:r>
                      <a:r>
                        <a:rPr kumimoji="1" lang="en-US" altLang="ja-JP" dirty="0"/>
                        <a:t>1</a:t>
                      </a:r>
                      <a:r>
                        <a:rPr kumimoji="1" lang="ja-JP" altLang="en-US" dirty="0"/>
                        <a:t>軸）、縦一列（</a:t>
                      </a:r>
                      <a:r>
                        <a:rPr kumimoji="1" lang="en-US" altLang="ja-JP" dirty="0"/>
                        <a:t>1</a:t>
                      </a:r>
                      <a:r>
                        <a:rPr kumimoji="1" lang="ja-JP" altLang="en-US" dirty="0"/>
                        <a:t>軸）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つまり、列を揃える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3929764"/>
                  </a:ext>
                </a:extLst>
              </a:tr>
              <a:tr h="1056054">
                <a:tc>
                  <a:txBody>
                    <a:bodyPr/>
                    <a:lstStyle/>
                    <a:p>
                      <a:r>
                        <a:rPr kumimoji="1" lang="en-US" altLang="ja-JP" sz="3600" dirty="0">
                          <a:latin typeface="Noto Sans JP Black" panose="020B0200000000000000" pitchFamily="50" charset="-128"/>
                          <a:ea typeface="Noto Sans JP Black" panose="020B0200000000000000" pitchFamily="50" charset="-128"/>
                          <a:cs typeface="Cascadia Code SemiBold" panose="020B0609020000020004" pitchFamily="49" charset="0"/>
                        </a:rPr>
                        <a:t>Float</a:t>
                      </a:r>
                      <a:endParaRPr kumimoji="1" lang="ja-JP" altLang="en-US" sz="3600" dirty="0">
                        <a:latin typeface="Noto Sans JP Black" panose="020B0200000000000000" pitchFamily="50" charset="-128"/>
                        <a:ea typeface="Noto Sans JP Black" panose="020B0200000000000000" pitchFamily="50" charset="-128"/>
                        <a:cs typeface="Cascadia Code SemiBold" panose="020B06090200000200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局所的レイアウト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テキストを画像に回り込ませる　</a:t>
                      </a:r>
                      <a:endParaRPr kumimoji="1" lang="en-US" altLang="ja-JP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つまり、個々の要素同士を揃える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3158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0891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5BFA67E-9EA7-F7F8-249B-C9429D70F148}"/>
              </a:ext>
            </a:extLst>
          </p:cNvPr>
          <p:cNvSpPr txBox="1"/>
          <p:nvPr/>
        </p:nvSpPr>
        <p:spPr>
          <a:xfrm>
            <a:off x="0" y="2905780"/>
            <a:ext cx="118929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#graphic&gt;ul&gt;(li&gt;img.image$@1[src=“images/slide$.jpg” alt=“”])*3</a:t>
            </a:r>
            <a:endParaRPr kumimoji="1" lang="ja-JP" altLang="en-US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1D6D1A1-3649-DC2A-F1B7-BBE96E5945A4}"/>
              </a:ext>
            </a:extLst>
          </p:cNvPr>
          <p:cNvSpPr txBox="1"/>
          <p:nvPr/>
        </p:nvSpPr>
        <p:spPr>
          <a:xfrm>
            <a:off x="116540" y="2079811"/>
            <a:ext cx="84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１３２</a:t>
            </a:r>
          </a:p>
        </p:txBody>
      </p:sp>
    </p:spTree>
    <p:extLst>
      <p:ext uri="{BB962C8B-B14F-4D97-AF65-F5344CB8AC3E}">
        <p14:creationId xmlns:p14="http://schemas.microsoft.com/office/powerpoint/2010/main" val="2953861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510EA-4B3C-929B-F6B7-362C02390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B4D3702-1065-0FFA-516D-5465C2D1BB0A}"/>
              </a:ext>
            </a:extLst>
          </p:cNvPr>
          <p:cNvSpPr txBox="1"/>
          <p:nvPr/>
        </p:nvSpPr>
        <p:spPr>
          <a:xfrm>
            <a:off x="143435" y="229496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１３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8</a:t>
            </a:r>
            <a:endParaRPr kumimoji="1" lang="ja-JP" altLang="en-US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E112918-0A9A-5254-70E9-EC43AC0233F9}"/>
              </a:ext>
            </a:extLst>
          </p:cNvPr>
          <p:cNvSpPr txBox="1"/>
          <p:nvPr/>
        </p:nvSpPr>
        <p:spPr>
          <a:xfrm>
            <a:off x="143435" y="2998113"/>
            <a:ext cx="1226810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200" b="1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dl.grid</a:t>
            </a:r>
            <a:r>
              <a:rPr kumimoji="1" lang="en-US" altLang="ja-JP" sz="2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-list&gt;((dt&gt;time[datetime=“2025-04-00”]{2025</a:t>
            </a:r>
            <a:r>
              <a:rPr kumimoji="1" lang="ja-JP" altLang="en-US" sz="2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</a:t>
            </a:r>
            <a:r>
              <a:rPr kumimoji="1" lang="en-US" altLang="ja-JP" sz="2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04</a:t>
            </a:r>
            <a:r>
              <a:rPr kumimoji="1" lang="ja-JP" altLang="en-US" sz="2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  <a:r>
              <a:rPr kumimoji="1" lang="en-US" altLang="ja-JP" sz="2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00</a:t>
            </a:r>
            <a:r>
              <a:rPr kumimoji="1" lang="ja-JP" altLang="en-US" sz="2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日｝＋ｄｄ）</a:t>
            </a:r>
            <a:r>
              <a:rPr kumimoji="1" lang="en-US" altLang="ja-JP" sz="2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kumimoji="1" lang="ja-JP" altLang="en-US" sz="2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＊４</a:t>
            </a:r>
          </a:p>
        </p:txBody>
      </p:sp>
    </p:spTree>
    <p:extLst>
      <p:ext uri="{BB962C8B-B14F-4D97-AF65-F5344CB8AC3E}">
        <p14:creationId xmlns:p14="http://schemas.microsoft.com/office/powerpoint/2010/main" val="317242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2057F-D96B-730E-3051-6A3C2E1ED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81FEC27-D180-276E-1CD9-BE53F28E540F}"/>
              </a:ext>
            </a:extLst>
          </p:cNvPr>
          <p:cNvSpPr txBox="1"/>
          <p:nvPr/>
        </p:nvSpPr>
        <p:spPr>
          <a:xfrm>
            <a:off x="143435" y="220797"/>
            <a:ext cx="12186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</a:t>
            </a:r>
            <a:r>
              <a:rPr kumimoji="1" lang="ja-JP" altLang="en-US" sz="28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１５４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A6DCA61-9195-82C4-7873-EEC54DC3D658}"/>
              </a:ext>
            </a:extLst>
          </p:cNvPr>
          <p:cNvSpPr txBox="1"/>
          <p:nvPr/>
        </p:nvSpPr>
        <p:spPr>
          <a:xfrm>
            <a:off x="580756" y="2125076"/>
            <a:ext cx="11491974" cy="3117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ja-JP" sz="5400" dirty="0"/>
              <a:t>(</a:t>
            </a:r>
            <a:r>
              <a:rPr lang="en-US" altLang="ja-JP" sz="5400" dirty="0" err="1"/>
              <a:t>section.concept_box</a:t>
            </a:r>
            <a:r>
              <a:rPr lang="en-US" altLang="ja-JP" sz="5400" dirty="0"/>
              <a:t>&gt;h2+p*3)*2</a:t>
            </a:r>
          </a:p>
          <a:p>
            <a:pPr>
              <a:lnSpc>
                <a:spcPct val="200000"/>
              </a:lnSpc>
            </a:pPr>
            <a:endParaRPr kumimoji="1" lang="ja-JP" altLang="en-US" sz="5400" b="1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4921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7A8469-38A4-107B-6C4C-A2EDA2FCB779}"/>
              </a:ext>
            </a:extLst>
          </p:cNvPr>
          <p:cNvSpPr txBox="1"/>
          <p:nvPr/>
        </p:nvSpPr>
        <p:spPr>
          <a:xfrm>
            <a:off x="0" y="154797"/>
            <a:ext cx="15135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6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</a:t>
            </a:r>
            <a:r>
              <a:rPr kumimoji="1" lang="ja-JP" altLang="en-US" sz="36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１５</a:t>
            </a:r>
            <a:r>
              <a:rPr kumimoji="1" lang="en-US" altLang="ja-JP" sz="36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7</a:t>
            </a:r>
            <a:endParaRPr kumimoji="1" lang="ja-JP" altLang="en-US" sz="36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4ECC982-9F62-AE7F-FE27-E10F0FCC2582}"/>
              </a:ext>
            </a:extLst>
          </p:cNvPr>
          <p:cNvSpPr txBox="1"/>
          <p:nvPr/>
        </p:nvSpPr>
        <p:spPr>
          <a:xfrm>
            <a:off x="756778" y="2532050"/>
            <a:ext cx="11143674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dirty="0" err="1">
                <a:latin typeface="ＭＳ Ｐ明朝" panose="02020600040205080304" pitchFamily="18" charset="-128"/>
                <a:ea typeface="ＭＳ Ｐ明朝" panose="02020600040205080304" pitchFamily="18" charset="-128"/>
                <a:cs typeface="Cascadia Code" panose="020B0609020000020004" pitchFamily="49" charset="0"/>
              </a:rPr>
              <a:t>img</a:t>
            </a:r>
            <a:r>
              <a:rPr lang="en-US" altLang="ja-JP" sz="3200" dirty="0">
                <a:latin typeface="ＭＳ Ｐ明朝" panose="02020600040205080304" pitchFamily="18" charset="-128"/>
                <a:ea typeface="ＭＳ Ｐ明朝" panose="02020600040205080304" pitchFamily="18" charset="-128"/>
                <a:cs typeface="Cascadia Code" panose="020B0609020000020004" pitchFamily="49" charset="0"/>
              </a:rPr>
              <a:t>[</a:t>
            </a:r>
            <a:r>
              <a:rPr lang="en-US" altLang="ja-JP" sz="3200" dirty="0" err="1">
                <a:latin typeface="ＭＳ Ｐ明朝" panose="02020600040205080304" pitchFamily="18" charset="-128"/>
                <a:ea typeface="ＭＳ Ｐ明朝" panose="02020600040205080304" pitchFamily="18" charset="-128"/>
                <a:cs typeface="Cascadia Code" panose="020B0609020000020004" pitchFamily="49" charset="0"/>
              </a:rPr>
              <a:t>src</a:t>
            </a:r>
            <a:r>
              <a:rPr lang="en-US" altLang="ja-JP" sz="3200" dirty="0">
                <a:latin typeface="ＭＳ Ｐ明朝" panose="02020600040205080304" pitchFamily="18" charset="-128"/>
                <a:ea typeface="ＭＳ Ｐ明朝" panose="02020600040205080304" pitchFamily="18" charset="-128"/>
                <a:cs typeface="Cascadia Code" panose="020B0609020000020004" pitchFamily="49" charset="0"/>
              </a:rPr>
              <a:t>="images/concept_photo12.jpg" alt=""].</a:t>
            </a:r>
            <a:r>
              <a:rPr lang="en-US" altLang="ja-JP" sz="3200" dirty="0" err="1">
                <a:latin typeface="ＭＳ Ｐ明朝" panose="02020600040205080304" pitchFamily="18" charset="-128"/>
                <a:ea typeface="ＭＳ Ｐ明朝" panose="02020600040205080304" pitchFamily="18" charset="-128"/>
                <a:cs typeface="Cascadia Code" panose="020B0609020000020004" pitchFamily="49" charset="0"/>
              </a:rPr>
              <a:t>image_rightleft</a:t>
            </a:r>
            <a:endParaRPr kumimoji="1" lang="ja-JP" altLang="en-US" sz="3200" dirty="0">
              <a:latin typeface="ＭＳ Ｐ明朝" panose="02020600040205080304" pitchFamily="18" charset="-128"/>
              <a:ea typeface="ＭＳ Ｐ明朝" panose="02020600040205080304" pitchFamily="18" charset="-128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892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1DA03-D981-8B26-5140-DC910E371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898815D-D58A-473B-62AB-915F9EBE0A2A}"/>
              </a:ext>
            </a:extLst>
          </p:cNvPr>
          <p:cNvSpPr txBox="1"/>
          <p:nvPr/>
        </p:nvSpPr>
        <p:spPr>
          <a:xfrm>
            <a:off x="221743" y="261801"/>
            <a:ext cx="15135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6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</a:t>
            </a:r>
            <a:r>
              <a:rPr lang="ja-JP" altLang="en-US" sz="36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１６６</a:t>
            </a:r>
            <a:endParaRPr kumimoji="1" lang="ja-JP" altLang="en-US" sz="36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2150DAE-B12F-CA70-0CCC-51F4AA3D6746}"/>
              </a:ext>
            </a:extLst>
          </p:cNvPr>
          <p:cNvSpPr txBox="1"/>
          <p:nvPr/>
        </p:nvSpPr>
        <p:spPr>
          <a:xfrm>
            <a:off x="0" y="2708415"/>
            <a:ext cx="12708835" cy="871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3900" b="1" dirty="0">
                <a:latin typeface="ＭＳ 明朝" panose="02020609040205080304" pitchFamily="17" charset="-128"/>
                <a:ea typeface="ＭＳ 明朝" panose="02020609040205080304" pitchFamily="17" charset="-128"/>
              </a:rPr>
              <a:t>table&gt;caption+(tr</a:t>
            </a:r>
            <a:r>
              <a:rPr kumimoji="1" lang="en-US" altLang="ja-JP" sz="3900" b="1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&gt;</a:t>
            </a:r>
            <a:r>
              <a:rPr kumimoji="1" lang="en-US" altLang="ja-JP" sz="3900" b="1" dirty="0" err="1">
                <a:latin typeface="ＭＳ 明朝" panose="02020609040205080304" pitchFamily="17" charset="-128"/>
                <a:ea typeface="ＭＳ 明朝" panose="02020609040205080304" pitchFamily="17" charset="-128"/>
              </a:rPr>
              <a:t>th</a:t>
            </a:r>
            <a:r>
              <a:rPr kumimoji="1" lang="en-US" altLang="ja-JP" sz="3900" b="1" dirty="0">
                <a:latin typeface="ＭＳ 明朝" panose="02020609040205080304" pitchFamily="17" charset="-128"/>
                <a:ea typeface="ＭＳ 明朝" panose="02020609040205080304" pitchFamily="17" charset="-128"/>
              </a:rPr>
              <a:t>*2)+((tr</a:t>
            </a:r>
            <a:r>
              <a:rPr kumimoji="1" lang="en-US" altLang="ja-JP" sz="3900" b="1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&gt;</a:t>
            </a:r>
            <a:r>
              <a:rPr kumimoji="1" lang="en-US" altLang="ja-JP" sz="3900" b="1" dirty="0" err="1">
                <a:latin typeface="ＭＳ 明朝" panose="02020609040205080304" pitchFamily="17" charset="-128"/>
                <a:ea typeface="ＭＳ 明朝" panose="02020609040205080304" pitchFamily="17" charset="-128"/>
              </a:rPr>
              <a:t>th+td</a:t>
            </a:r>
            <a:r>
              <a:rPr kumimoji="1" lang="en-US" altLang="ja-JP" sz="3900" b="1" dirty="0">
                <a:latin typeface="ＭＳ 明朝" panose="02020609040205080304" pitchFamily="17" charset="-128"/>
                <a:ea typeface="ＭＳ 明朝" panose="02020609040205080304" pitchFamily="17" charset="-128"/>
              </a:rPr>
              <a:t>)*4)+(tr</a:t>
            </a:r>
            <a:r>
              <a:rPr kumimoji="1" lang="en-US" altLang="ja-JP" sz="3900" b="1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&gt;</a:t>
            </a:r>
            <a:r>
              <a:rPr kumimoji="1" lang="en-US" altLang="ja-JP" sz="3900" b="1" dirty="0">
                <a:latin typeface="ＭＳ 明朝" panose="02020609040205080304" pitchFamily="17" charset="-128"/>
                <a:ea typeface="ＭＳ 明朝" panose="02020609040205080304" pitchFamily="17" charset="-128"/>
              </a:rPr>
              <a:t>td)*2</a:t>
            </a:r>
            <a:endParaRPr kumimoji="1" lang="ja-JP" altLang="en-US" sz="3900" b="1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60845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075D58B-A1ED-4871-6DF2-0FADEF87FEE0}"/>
              </a:ext>
            </a:extLst>
          </p:cNvPr>
          <p:cNvSpPr txBox="1"/>
          <p:nvPr/>
        </p:nvSpPr>
        <p:spPr>
          <a:xfrm>
            <a:off x="221743" y="261801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6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</a:t>
            </a:r>
            <a:r>
              <a:rPr lang="ja-JP" altLang="en-US" sz="36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１９４</a:t>
            </a:r>
            <a:endParaRPr kumimoji="1" lang="ja-JP" altLang="en-US" sz="36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52AD476-B17D-04E0-FFFB-F838904C40C5}"/>
              </a:ext>
            </a:extLst>
          </p:cNvPr>
          <p:cNvSpPr txBox="1"/>
          <p:nvPr/>
        </p:nvSpPr>
        <p:spPr>
          <a:xfrm>
            <a:off x="221743" y="2796209"/>
            <a:ext cx="1192185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da-DK" altLang="ja-JP" sz="2100" b="1" dirty="0"/>
              <a:t>(.gallery_box&gt;(figure&gt;img[src="images/gallery_photo$@1.jpg" alt=""]+figcaption{})*3)*2</a:t>
            </a:r>
          </a:p>
          <a:p>
            <a:endParaRPr kumimoji="1" lang="ja-JP" altLang="en-US" sz="2100" b="1" dirty="0"/>
          </a:p>
        </p:txBody>
      </p:sp>
    </p:spTree>
    <p:extLst>
      <p:ext uri="{BB962C8B-B14F-4D97-AF65-F5344CB8AC3E}">
        <p14:creationId xmlns:p14="http://schemas.microsoft.com/office/powerpoint/2010/main" val="517063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</TotalTime>
  <Words>240</Words>
  <Application>Microsoft Office PowerPoint</Application>
  <PresentationFormat>ワイド画面</PresentationFormat>
  <Paragraphs>29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9" baseType="lpstr">
      <vt:lpstr>BIZ UDPゴシック</vt:lpstr>
      <vt:lpstr>HGP創英角ｺﾞｼｯｸUB</vt:lpstr>
      <vt:lpstr>ＭＳ Ｐ明朝</vt:lpstr>
      <vt:lpstr>ＭＳ 明朝</vt:lpstr>
      <vt:lpstr>Noto Sans JP Black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Emmet記法とカッコ</vt:lpstr>
      <vt:lpstr>Grid、Flexbox、float、 各レイアウトの使い分け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school</dc:creator>
  <cp:lastModifiedBy>school</cp:lastModifiedBy>
  <cp:revision>15</cp:revision>
  <dcterms:created xsi:type="dcterms:W3CDTF">2025-11-01T02:30:09Z</dcterms:created>
  <dcterms:modified xsi:type="dcterms:W3CDTF">2025-11-11T02:09:14Z</dcterms:modified>
</cp:coreProperties>
</file>